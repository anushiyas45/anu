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rimo Bold" panose="020B0604020202020204" charset="0"/>
      <p:regular r:id="rId14"/>
    </p:embeddedFont>
    <p:embeddedFont>
      <p:font typeface="Be Vietnam" panose="020B0604020202020204" charset="0"/>
      <p:regular r:id="rId15"/>
    </p:embeddedFont>
    <p:embeddedFont>
      <p:font typeface="Be Vietnam Italics" panose="020B0604020202020204" charset="0"/>
      <p:regular r:id="rId16"/>
    </p:embeddedFont>
    <p:embeddedFont>
      <p:font typeface="Be Vietnam Ultra-Bold" panose="020B0604020202020204" charset="0"/>
      <p:regular r:id="rId17"/>
    </p:embeddedFont>
    <p:embeddedFont>
      <p:font typeface="Be Vietnam Ultra-Bold Italics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Inter Bold" panose="020B0604020202020204" charset="0"/>
      <p:regular r:id="rId23"/>
    </p:embeddedFont>
    <p:embeddedFont>
      <p:font typeface="Squada One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6" d="100"/>
          <a:sy n="26" d="100"/>
        </p:scale>
        <p:origin x="1956" y="6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" y="1"/>
            <a:ext cx="5621447" cy="10287000"/>
          </a:xfrm>
          <a:custGeom>
            <a:avLst/>
            <a:gdLst/>
            <a:ahLst/>
            <a:cxnLst/>
            <a:rect l="l" t="t" r="r" b="b"/>
            <a:pathLst>
              <a:path w="13125100" h="11884181">
                <a:moveTo>
                  <a:pt x="0" y="0"/>
                </a:moveTo>
                <a:lnTo>
                  <a:pt x="13125100" y="0"/>
                </a:lnTo>
                <a:lnTo>
                  <a:pt x="13125100" y="11884181"/>
                </a:lnTo>
                <a:lnTo>
                  <a:pt x="0" y="11884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83866" y="-1398"/>
            <a:ext cx="2404134" cy="3087498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601700" y="8838057"/>
            <a:ext cx="4743847" cy="1448943"/>
          </a:xfrm>
          <a:custGeom>
            <a:avLst/>
            <a:gdLst/>
            <a:ahLst/>
            <a:cxnLst/>
            <a:rect l="l" t="t" r="r" b="b"/>
            <a:pathLst>
              <a:path w="7315200" h="2274362">
                <a:moveTo>
                  <a:pt x="0" y="0"/>
                </a:moveTo>
                <a:lnTo>
                  <a:pt x="7315200" y="0"/>
                </a:lnTo>
                <a:lnTo>
                  <a:pt x="7315200" y="2274363"/>
                </a:lnTo>
                <a:lnTo>
                  <a:pt x="0" y="22743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467435" y="751578"/>
            <a:ext cx="12319819" cy="449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976"/>
              </a:lnSpc>
            </a:pPr>
            <a:r>
              <a:rPr lang="en-US" sz="8554">
                <a:solidFill>
                  <a:srgbClr val="536925"/>
                </a:solidFill>
                <a:latin typeface="Squada One"/>
                <a:ea typeface="Squada One"/>
                <a:cs typeface="Squada One"/>
                <a:sym typeface="Squada One"/>
              </a:rPr>
              <a:t>SURVEY OF SALARY &amp; EXPERIENCE ACROSS GLOBAL INDUSTRIES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54167" y="6002149"/>
            <a:ext cx="11426799" cy="87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4"/>
              </a:lnSpc>
            </a:pPr>
            <a:r>
              <a:rPr lang="en-US" sz="5196" b="1">
                <a:solidFill>
                  <a:srgbClr val="191919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An Analysis of Career Trajectories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57853" y="8270147"/>
            <a:ext cx="4743847" cy="903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41"/>
              </a:lnSpc>
              <a:spcBef>
                <a:spcPct val="0"/>
              </a:spcBef>
            </a:pPr>
            <a:r>
              <a:rPr lang="en-US" sz="5315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ANUSHIYA.S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543175"/>
            <a:chOff x="0" y="0"/>
            <a:chExt cx="4816593" cy="66980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69807"/>
            </a:xfrm>
            <a:custGeom>
              <a:avLst/>
              <a:gdLst/>
              <a:ahLst/>
              <a:cxnLst/>
              <a:rect l="l" t="t" r="r" b="b"/>
              <a:pathLst>
                <a:path w="4816592" h="669807">
                  <a:moveTo>
                    <a:pt x="0" y="0"/>
                  </a:moveTo>
                  <a:lnTo>
                    <a:pt x="4816592" y="0"/>
                  </a:lnTo>
                  <a:lnTo>
                    <a:pt x="4816592" y="669807"/>
                  </a:lnTo>
                  <a:lnTo>
                    <a:pt x="0" y="66980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26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33449" y="2629018"/>
            <a:ext cx="10954551" cy="564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9838" lvl="1" indent="-314919" algn="l">
              <a:lnSpc>
                <a:spcPts val="4084"/>
              </a:lnSpc>
              <a:buFont typeface="Arial"/>
              <a:buChar char="•"/>
            </a:pPr>
            <a:r>
              <a:rPr lang="en-US" sz="2917">
                <a:solidFill>
                  <a:srgbClr val="0F403C"/>
                </a:solidFill>
                <a:latin typeface="Be Vietnam"/>
                <a:ea typeface="Be Vietnam"/>
                <a:cs typeface="Be Vietnam"/>
                <a:sym typeface="Be Vietnam"/>
              </a:rPr>
              <a:t>This Salary Survey Report gives an overview of how employees at Global Company are paid across different countries and job roles. </a:t>
            </a:r>
          </a:p>
          <a:p>
            <a:pPr marL="629838" lvl="1" indent="-314919" algn="l">
              <a:lnSpc>
                <a:spcPts val="4084"/>
              </a:lnSpc>
              <a:buFont typeface="Arial"/>
              <a:buChar char="•"/>
            </a:pPr>
            <a:r>
              <a:rPr lang="en-US" sz="2917">
                <a:solidFill>
                  <a:srgbClr val="0F403C"/>
                </a:solidFill>
                <a:latin typeface="Be Vietnam"/>
                <a:ea typeface="Be Vietnam"/>
                <a:cs typeface="Be Vietnam"/>
                <a:sym typeface="Be Vietnam"/>
              </a:rPr>
              <a:t>The dataset is a collection of  data from employees around the world, covering different levels of experience, departments, and regions. </a:t>
            </a:r>
          </a:p>
          <a:p>
            <a:pPr marL="629838" lvl="1" indent="-314919" algn="l">
              <a:lnSpc>
                <a:spcPts val="4084"/>
              </a:lnSpc>
              <a:buFont typeface="Arial"/>
              <a:buChar char="•"/>
            </a:pPr>
            <a:r>
              <a:rPr lang="en-US" sz="2917">
                <a:solidFill>
                  <a:srgbClr val="0F403C"/>
                </a:solidFill>
                <a:latin typeface="Be Vietnam"/>
                <a:ea typeface="Be Vietnam"/>
                <a:cs typeface="Be Vietnam"/>
                <a:sym typeface="Be Vietnam"/>
              </a:rPr>
              <a:t>The goal is to make sure our pay is competitive and fair, and to guide future decisions about salaries and benefits.</a:t>
            </a:r>
          </a:p>
          <a:p>
            <a:pPr marL="629838" lvl="1" indent="-314919" algn="l">
              <a:lnSpc>
                <a:spcPts val="4084"/>
              </a:lnSpc>
              <a:buFont typeface="Arial"/>
              <a:buChar char="•"/>
            </a:pPr>
            <a:r>
              <a:rPr lang="en-US" sz="2917">
                <a:solidFill>
                  <a:srgbClr val="0F403C"/>
                </a:solidFill>
                <a:latin typeface="Be Vietnam"/>
                <a:ea typeface="Be Vietnam"/>
                <a:cs typeface="Be Vietnam"/>
                <a:sym typeface="Be Vietnam"/>
              </a:rPr>
              <a:t>This report is an important step in ensuring that Global Company continues to be a great place to work and grow.</a:t>
            </a:r>
          </a:p>
          <a:p>
            <a:pPr marL="0" lvl="0" indent="0" algn="l">
              <a:lnSpc>
                <a:spcPts val="4084"/>
              </a:lnSpc>
              <a:spcBef>
                <a:spcPct val="0"/>
              </a:spcBef>
            </a:pPr>
            <a:endParaRPr lang="en-US" sz="2917">
              <a:solidFill>
                <a:srgbClr val="0F403C"/>
              </a:solidFill>
              <a:latin typeface="Be Vietnam"/>
              <a:ea typeface="Be Vietnam"/>
              <a:cs typeface="Be Vietnam"/>
              <a:sym typeface="Be Vietnam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238820" y="6205861"/>
            <a:ext cx="3842319" cy="4081139"/>
          </a:xfrm>
          <a:custGeom>
            <a:avLst/>
            <a:gdLst/>
            <a:ahLst/>
            <a:cxnLst/>
            <a:rect l="l" t="t" r="r" b="b"/>
            <a:pathLst>
              <a:path w="5109839" h="5109839">
                <a:moveTo>
                  <a:pt x="0" y="0"/>
                </a:moveTo>
                <a:lnTo>
                  <a:pt x="5109839" y="0"/>
                </a:lnTo>
                <a:lnTo>
                  <a:pt x="5109839" y="5109839"/>
                </a:lnTo>
                <a:lnTo>
                  <a:pt x="0" y="51098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028700" y="1028700"/>
            <a:ext cx="6104878" cy="6952803"/>
            <a:chOff x="0" y="0"/>
            <a:chExt cx="945805" cy="107717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5805" cy="1077171"/>
            </a:xfrm>
            <a:custGeom>
              <a:avLst/>
              <a:gdLst/>
              <a:ahLst/>
              <a:cxnLst/>
              <a:rect l="l" t="t" r="r" b="b"/>
              <a:pathLst>
                <a:path w="945805" h="1077171">
                  <a:moveTo>
                    <a:pt x="0" y="0"/>
                  </a:moveTo>
                  <a:lnTo>
                    <a:pt x="945805" y="0"/>
                  </a:lnTo>
                  <a:lnTo>
                    <a:pt x="945805" y="1077171"/>
                  </a:lnTo>
                  <a:lnTo>
                    <a:pt x="0" y="1077171"/>
                  </a:lnTo>
                  <a:close/>
                </a:path>
              </a:pathLst>
            </a:custGeom>
            <a:blipFill>
              <a:blip r:embed="rId4"/>
              <a:stretch>
                <a:fillRect r="-82389" b="-669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330988" y="192548"/>
            <a:ext cx="6090228" cy="160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90"/>
              </a:lnSpc>
              <a:spcBef>
                <a:spcPct val="0"/>
              </a:spcBef>
            </a:pPr>
            <a:r>
              <a:rPr lang="en-US" sz="9421">
                <a:solidFill>
                  <a:srgbClr val="FEFFF2"/>
                </a:solidFill>
                <a:latin typeface="Squada One"/>
                <a:ea typeface="Squada One"/>
                <a:cs typeface="Squada One"/>
                <a:sym typeface="Squada One"/>
              </a:rPr>
              <a:t>INTRODUCTION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7333449" y="8797118"/>
            <a:ext cx="377759" cy="461182"/>
          </a:xfrm>
          <a:custGeom>
            <a:avLst/>
            <a:gdLst/>
            <a:ahLst/>
            <a:cxnLst/>
            <a:rect l="l" t="t" r="r" b="b"/>
            <a:pathLst>
              <a:path w="377759" h="461182">
                <a:moveTo>
                  <a:pt x="0" y="0"/>
                </a:moveTo>
                <a:lnTo>
                  <a:pt x="377758" y="0"/>
                </a:lnTo>
                <a:lnTo>
                  <a:pt x="377758" y="461182"/>
                </a:lnTo>
                <a:lnTo>
                  <a:pt x="0" y="4611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818639" y="8780266"/>
            <a:ext cx="3135912" cy="44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7"/>
              </a:lnSpc>
              <a:spcBef>
                <a:spcPct val="0"/>
              </a:spcBef>
            </a:pPr>
            <a:r>
              <a:rPr lang="en-US" sz="2641" i="1">
                <a:solidFill>
                  <a:srgbClr val="0F403C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Global Company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43569" y="9210675"/>
            <a:ext cx="5200862" cy="42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63"/>
              </a:lnSpc>
              <a:spcBef>
                <a:spcPct val="0"/>
              </a:spcBef>
            </a:pPr>
            <a:r>
              <a:rPr lang="en-US" sz="2474">
                <a:solidFill>
                  <a:srgbClr val="3F7E44"/>
                </a:solidFill>
                <a:latin typeface="Be Vietnam"/>
                <a:ea typeface="Be Vietnam"/>
                <a:cs typeface="Be Vietnam"/>
                <a:sym typeface="Be Vietnam"/>
              </a:rPr>
              <a:t>An Analysis of Career Trajectories </a:t>
            </a:r>
          </a:p>
        </p:txBody>
      </p:sp>
      <p:sp>
        <p:nvSpPr>
          <p:cNvPr id="13" name="Freeform 13"/>
          <p:cNvSpPr/>
          <p:nvPr/>
        </p:nvSpPr>
        <p:spPr>
          <a:xfrm>
            <a:off x="16450649" y="192548"/>
            <a:ext cx="1456351" cy="1549934"/>
          </a:xfrm>
          <a:custGeom>
            <a:avLst/>
            <a:gdLst/>
            <a:ahLst/>
            <a:cxnLst/>
            <a:rect l="l" t="t" r="r" b="b"/>
            <a:pathLst>
              <a:path w="2737918" h="2737918">
                <a:moveTo>
                  <a:pt x="0" y="0"/>
                </a:moveTo>
                <a:lnTo>
                  <a:pt x="2737918" y="0"/>
                </a:lnTo>
                <a:lnTo>
                  <a:pt x="2737918" y="2737918"/>
                </a:lnTo>
                <a:lnTo>
                  <a:pt x="0" y="27379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28700" y="6146103"/>
            <a:ext cx="4994527" cy="4994527"/>
          </a:xfrm>
          <a:custGeom>
            <a:avLst/>
            <a:gdLst/>
            <a:ahLst/>
            <a:cxnLst/>
            <a:rect l="l" t="t" r="r" b="b"/>
            <a:pathLst>
              <a:path w="4994527" h="4994527">
                <a:moveTo>
                  <a:pt x="0" y="0"/>
                </a:moveTo>
                <a:lnTo>
                  <a:pt x="4994527" y="0"/>
                </a:lnTo>
                <a:lnTo>
                  <a:pt x="4994527" y="4994526"/>
                </a:lnTo>
                <a:lnTo>
                  <a:pt x="0" y="499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601700" y="8838057"/>
            <a:ext cx="7315200" cy="2274362"/>
          </a:xfrm>
          <a:custGeom>
            <a:avLst/>
            <a:gdLst/>
            <a:ahLst/>
            <a:cxnLst/>
            <a:rect l="l" t="t" r="r" b="b"/>
            <a:pathLst>
              <a:path w="7315200" h="2274362">
                <a:moveTo>
                  <a:pt x="0" y="0"/>
                </a:moveTo>
                <a:lnTo>
                  <a:pt x="7315200" y="0"/>
                </a:lnTo>
                <a:lnTo>
                  <a:pt x="7315200" y="2274363"/>
                </a:lnTo>
                <a:lnTo>
                  <a:pt x="0" y="22743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943916" y="1028700"/>
            <a:ext cx="937930" cy="937930"/>
            <a:chOff x="0" y="0"/>
            <a:chExt cx="247027" cy="2470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7027" cy="247027"/>
            </a:xfrm>
            <a:custGeom>
              <a:avLst/>
              <a:gdLst/>
              <a:ahLst/>
              <a:cxnLst/>
              <a:rect l="l" t="t" r="r" b="b"/>
              <a:pathLst>
                <a:path w="247027" h="247027">
                  <a:moveTo>
                    <a:pt x="0" y="0"/>
                  </a:moveTo>
                  <a:lnTo>
                    <a:pt x="247027" y="0"/>
                  </a:lnTo>
                  <a:lnTo>
                    <a:pt x="247027" y="247027"/>
                  </a:lnTo>
                  <a:lnTo>
                    <a:pt x="0" y="24702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247027" cy="32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00"/>
                </a:lnSpc>
              </a:pPr>
              <a:r>
                <a:rPr lang="en-US" sz="3643" b="1">
                  <a:solidFill>
                    <a:srgbClr val="FEFFF2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139877" y="1028700"/>
            <a:ext cx="937930" cy="937930"/>
            <a:chOff x="0" y="0"/>
            <a:chExt cx="247027" cy="2470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7027" cy="247027"/>
            </a:xfrm>
            <a:custGeom>
              <a:avLst/>
              <a:gdLst/>
              <a:ahLst/>
              <a:cxnLst/>
              <a:rect l="l" t="t" r="r" b="b"/>
              <a:pathLst>
                <a:path w="247027" h="247027">
                  <a:moveTo>
                    <a:pt x="0" y="0"/>
                  </a:moveTo>
                  <a:lnTo>
                    <a:pt x="247027" y="0"/>
                  </a:lnTo>
                  <a:lnTo>
                    <a:pt x="247027" y="247027"/>
                  </a:lnTo>
                  <a:lnTo>
                    <a:pt x="0" y="24702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247027" cy="32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00"/>
                </a:lnSpc>
              </a:pPr>
              <a:r>
                <a:rPr lang="en-US" sz="3643" b="1">
                  <a:solidFill>
                    <a:srgbClr val="FEFFF2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06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43916" y="2291490"/>
            <a:ext cx="937930" cy="937930"/>
            <a:chOff x="0" y="0"/>
            <a:chExt cx="247027" cy="2470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7027" cy="247027"/>
            </a:xfrm>
            <a:custGeom>
              <a:avLst/>
              <a:gdLst/>
              <a:ahLst/>
              <a:cxnLst/>
              <a:rect l="l" t="t" r="r" b="b"/>
              <a:pathLst>
                <a:path w="247027" h="247027">
                  <a:moveTo>
                    <a:pt x="0" y="0"/>
                  </a:moveTo>
                  <a:lnTo>
                    <a:pt x="247027" y="0"/>
                  </a:lnTo>
                  <a:lnTo>
                    <a:pt x="247027" y="247027"/>
                  </a:lnTo>
                  <a:lnTo>
                    <a:pt x="0" y="24702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247027" cy="32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00"/>
                </a:lnSpc>
              </a:pPr>
              <a:r>
                <a:rPr lang="en-US" sz="3643" b="1">
                  <a:solidFill>
                    <a:srgbClr val="FEFFF2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02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139877" y="2291490"/>
            <a:ext cx="937930" cy="937930"/>
            <a:chOff x="0" y="0"/>
            <a:chExt cx="247027" cy="24702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7027" cy="247027"/>
            </a:xfrm>
            <a:custGeom>
              <a:avLst/>
              <a:gdLst/>
              <a:ahLst/>
              <a:cxnLst/>
              <a:rect l="l" t="t" r="r" b="b"/>
              <a:pathLst>
                <a:path w="247027" h="247027">
                  <a:moveTo>
                    <a:pt x="0" y="0"/>
                  </a:moveTo>
                  <a:lnTo>
                    <a:pt x="247027" y="0"/>
                  </a:lnTo>
                  <a:lnTo>
                    <a:pt x="247027" y="247027"/>
                  </a:lnTo>
                  <a:lnTo>
                    <a:pt x="0" y="24702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247027" cy="32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00"/>
                </a:lnSpc>
              </a:pPr>
              <a:r>
                <a:rPr lang="en-US" sz="3643" b="1">
                  <a:solidFill>
                    <a:srgbClr val="FEFFF2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07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35214" y="563296"/>
            <a:ext cx="4918056" cy="327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90"/>
              </a:lnSpc>
              <a:spcBef>
                <a:spcPct val="0"/>
              </a:spcBef>
            </a:pPr>
            <a:r>
              <a:rPr lang="en-US" sz="9421">
                <a:solidFill>
                  <a:srgbClr val="00A99D"/>
                </a:solidFill>
                <a:latin typeface="Squada One"/>
                <a:ea typeface="Squada One"/>
                <a:cs typeface="Squada One"/>
                <a:sym typeface="Squada One"/>
              </a:rPr>
              <a:t>REPORT HIGHLIGHTS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29497" y="1221993"/>
            <a:ext cx="4710498" cy="5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AGE GROUP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25458" y="1221993"/>
            <a:ext cx="4710498" cy="5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EXPERIENCE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129497" y="2484783"/>
            <a:ext cx="4710498" cy="5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GENDER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325458" y="2484783"/>
            <a:ext cx="4710498" cy="5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INDUSTRY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943916" y="3554280"/>
            <a:ext cx="937930" cy="937930"/>
            <a:chOff x="0" y="0"/>
            <a:chExt cx="247027" cy="24702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7027" cy="247027"/>
            </a:xfrm>
            <a:custGeom>
              <a:avLst/>
              <a:gdLst/>
              <a:ahLst/>
              <a:cxnLst/>
              <a:rect l="l" t="t" r="r" b="b"/>
              <a:pathLst>
                <a:path w="247027" h="247027">
                  <a:moveTo>
                    <a:pt x="0" y="0"/>
                  </a:moveTo>
                  <a:lnTo>
                    <a:pt x="247027" y="0"/>
                  </a:lnTo>
                  <a:lnTo>
                    <a:pt x="247027" y="247027"/>
                  </a:lnTo>
                  <a:lnTo>
                    <a:pt x="0" y="24702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247027" cy="32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00"/>
                </a:lnSpc>
              </a:pPr>
              <a:r>
                <a:rPr lang="en-US" sz="3643" b="1">
                  <a:solidFill>
                    <a:srgbClr val="FEFFF2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139877" y="3554280"/>
            <a:ext cx="937930" cy="937930"/>
            <a:chOff x="0" y="0"/>
            <a:chExt cx="247027" cy="24702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7027" cy="247027"/>
            </a:xfrm>
            <a:custGeom>
              <a:avLst/>
              <a:gdLst/>
              <a:ahLst/>
              <a:cxnLst/>
              <a:rect l="l" t="t" r="r" b="b"/>
              <a:pathLst>
                <a:path w="247027" h="247027">
                  <a:moveTo>
                    <a:pt x="0" y="0"/>
                  </a:moveTo>
                  <a:lnTo>
                    <a:pt x="247027" y="0"/>
                  </a:lnTo>
                  <a:lnTo>
                    <a:pt x="247027" y="247027"/>
                  </a:lnTo>
                  <a:lnTo>
                    <a:pt x="0" y="24702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247027" cy="32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00"/>
                </a:lnSpc>
              </a:pPr>
              <a:r>
                <a:rPr lang="en-US" sz="3643" b="1">
                  <a:solidFill>
                    <a:srgbClr val="FEFFF2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08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129497" y="3747573"/>
            <a:ext cx="4710498" cy="5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EDUCATION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325458" y="3747573"/>
            <a:ext cx="4710498" cy="5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JOB TITLE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943916" y="4817070"/>
            <a:ext cx="937930" cy="937930"/>
            <a:chOff x="0" y="0"/>
            <a:chExt cx="247027" cy="24702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47027" cy="247027"/>
            </a:xfrm>
            <a:custGeom>
              <a:avLst/>
              <a:gdLst/>
              <a:ahLst/>
              <a:cxnLst/>
              <a:rect l="l" t="t" r="r" b="b"/>
              <a:pathLst>
                <a:path w="247027" h="247027">
                  <a:moveTo>
                    <a:pt x="0" y="0"/>
                  </a:moveTo>
                  <a:lnTo>
                    <a:pt x="247027" y="0"/>
                  </a:lnTo>
                  <a:lnTo>
                    <a:pt x="247027" y="247027"/>
                  </a:lnTo>
                  <a:lnTo>
                    <a:pt x="0" y="24702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76200"/>
              <a:ext cx="247027" cy="32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00"/>
                </a:lnSpc>
              </a:pPr>
              <a:r>
                <a:rPr lang="en-US" sz="3643" b="1">
                  <a:solidFill>
                    <a:srgbClr val="FEFFF2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04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139877" y="4817070"/>
            <a:ext cx="937930" cy="937930"/>
            <a:chOff x="0" y="0"/>
            <a:chExt cx="247027" cy="24702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47027" cy="247027"/>
            </a:xfrm>
            <a:custGeom>
              <a:avLst/>
              <a:gdLst/>
              <a:ahLst/>
              <a:cxnLst/>
              <a:rect l="l" t="t" r="r" b="b"/>
              <a:pathLst>
                <a:path w="247027" h="247027">
                  <a:moveTo>
                    <a:pt x="0" y="0"/>
                  </a:moveTo>
                  <a:lnTo>
                    <a:pt x="247027" y="0"/>
                  </a:lnTo>
                  <a:lnTo>
                    <a:pt x="247027" y="247027"/>
                  </a:lnTo>
                  <a:lnTo>
                    <a:pt x="0" y="24702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76200"/>
              <a:ext cx="247027" cy="32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00"/>
                </a:lnSpc>
              </a:pPr>
              <a:r>
                <a:rPr lang="en-US" sz="3643" b="1">
                  <a:solidFill>
                    <a:srgbClr val="FEFFF2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09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129497" y="5010363"/>
            <a:ext cx="4710498" cy="5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COUNTRY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325458" y="5010363"/>
            <a:ext cx="4710498" cy="5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SALARY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943916" y="6079860"/>
            <a:ext cx="937930" cy="937930"/>
            <a:chOff x="0" y="0"/>
            <a:chExt cx="247027" cy="24702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47027" cy="247027"/>
            </a:xfrm>
            <a:custGeom>
              <a:avLst/>
              <a:gdLst/>
              <a:ahLst/>
              <a:cxnLst/>
              <a:rect l="l" t="t" r="r" b="b"/>
              <a:pathLst>
                <a:path w="247027" h="247027">
                  <a:moveTo>
                    <a:pt x="0" y="0"/>
                  </a:moveTo>
                  <a:lnTo>
                    <a:pt x="247027" y="0"/>
                  </a:lnTo>
                  <a:lnTo>
                    <a:pt x="247027" y="247027"/>
                  </a:lnTo>
                  <a:lnTo>
                    <a:pt x="0" y="24702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76200"/>
              <a:ext cx="247027" cy="32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00"/>
                </a:lnSpc>
              </a:pPr>
              <a:r>
                <a:rPr lang="en-US" sz="3643" b="1">
                  <a:solidFill>
                    <a:srgbClr val="FEFFF2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05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139877" y="6079860"/>
            <a:ext cx="937930" cy="937930"/>
            <a:chOff x="0" y="0"/>
            <a:chExt cx="247027" cy="24702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47027" cy="247027"/>
            </a:xfrm>
            <a:custGeom>
              <a:avLst/>
              <a:gdLst/>
              <a:ahLst/>
              <a:cxnLst/>
              <a:rect l="l" t="t" r="r" b="b"/>
              <a:pathLst>
                <a:path w="247027" h="247027">
                  <a:moveTo>
                    <a:pt x="0" y="0"/>
                  </a:moveTo>
                  <a:lnTo>
                    <a:pt x="247027" y="0"/>
                  </a:lnTo>
                  <a:lnTo>
                    <a:pt x="247027" y="247027"/>
                  </a:lnTo>
                  <a:lnTo>
                    <a:pt x="0" y="24702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76200"/>
              <a:ext cx="247027" cy="3232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00"/>
                </a:lnSpc>
              </a:pPr>
              <a:r>
                <a:rPr lang="en-US" sz="3643" b="1">
                  <a:solidFill>
                    <a:srgbClr val="FEFFF2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10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129497" y="6273152"/>
            <a:ext cx="4710498" cy="50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STATE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325458" y="6273152"/>
            <a:ext cx="4710498" cy="1037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 b="1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ADDITIONAL COMPENSATION</a:t>
            </a:r>
          </a:p>
        </p:txBody>
      </p:sp>
      <p:sp>
        <p:nvSpPr>
          <p:cNvPr id="45" name="Freeform 45"/>
          <p:cNvSpPr/>
          <p:nvPr/>
        </p:nvSpPr>
        <p:spPr>
          <a:xfrm>
            <a:off x="7333449" y="8797118"/>
            <a:ext cx="377759" cy="461182"/>
          </a:xfrm>
          <a:custGeom>
            <a:avLst/>
            <a:gdLst/>
            <a:ahLst/>
            <a:cxnLst/>
            <a:rect l="l" t="t" r="r" b="b"/>
            <a:pathLst>
              <a:path w="377759" h="461182">
                <a:moveTo>
                  <a:pt x="0" y="0"/>
                </a:moveTo>
                <a:lnTo>
                  <a:pt x="377758" y="0"/>
                </a:lnTo>
                <a:lnTo>
                  <a:pt x="377758" y="461182"/>
                </a:lnTo>
                <a:lnTo>
                  <a:pt x="0" y="4611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7818639" y="8780266"/>
            <a:ext cx="3135912" cy="44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7"/>
              </a:lnSpc>
              <a:spcBef>
                <a:spcPct val="0"/>
              </a:spcBef>
            </a:pPr>
            <a:r>
              <a:rPr lang="en-US" sz="2641" i="1">
                <a:solidFill>
                  <a:srgbClr val="0F403C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GLOBAL Company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43569" y="9210675"/>
            <a:ext cx="5200862" cy="42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63"/>
              </a:lnSpc>
              <a:spcBef>
                <a:spcPct val="0"/>
              </a:spcBef>
            </a:pPr>
            <a:r>
              <a:rPr lang="en-US" sz="2474">
                <a:solidFill>
                  <a:srgbClr val="3F7E44"/>
                </a:solidFill>
                <a:latin typeface="Be Vietnam"/>
                <a:ea typeface="Be Vietnam"/>
                <a:cs typeface="Be Vietnam"/>
                <a:sym typeface="Be Vietnam"/>
              </a:rPr>
              <a:t>An Analysis of Career Trajectories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33449" y="8797118"/>
            <a:ext cx="377759" cy="461182"/>
          </a:xfrm>
          <a:custGeom>
            <a:avLst/>
            <a:gdLst/>
            <a:ahLst/>
            <a:cxnLst/>
            <a:rect l="l" t="t" r="r" b="b"/>
            <a:pathLst>
              <a:path w="377759" h="461182">
                <a:moveTo>
                  <a:pt x="0" y="0"/>
                </a:moveTo>
                <a:lnTo>
                  <a:pt x="377758" y="0"/>
                </a:lnTo>
                <a:lnTo>
                  <a:pt x="377758" y="461182"/>
                </a:lnTo>
                <a:lnTo>
                  <a:pt x="0" y="461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05677" y="1979330"/>
            <a:ext cx="15285611" cy="7572109"/>
            <a:chOff x="0" y="-47625"/>
            <a:chExt cx="4821400" cy="1965822"/>
          </a:xfrm>
        </p:grpSpPr>
        <p:sp>
          <p:nvSpPr>
            <p:cNvPr id="4" name="Freeform 4"/>
            <p:cNvSpPr/>
            <p:nvPr/>
          </p:nvSpPr>
          <p:spPr>
            <a:xfrm>
              <a:off x="4808" y="27811"/>
              <a:ext cx="4816592" cy="1890386"/>
            </a:xfrm>
            <a:custGeom>
              <a:avLst/>
              <a:gdLst/>
              <a:ahLst/>
              <a:cxnLst/>
              <a:rect l="l" t="t" r="r" b="b"/>
              <a:pathLst>
                <a:path w="4816592" h="1890386">
                  <a:moveTo>
                    <a:pt x="0" y="0"/>
                  </a:moveTo>
                  <a:lnTo>
                    <a:pt x="4816592" y="0"/>
                  </a:lnTo>
                  <a:lnTo>
                    <a:pt x="4816592" y="1890386"/>
                  </a:lnTo>
                  <a:lnTo>
                    <a:pt x="0" y="1890386"/>
                  </a:lnTo>
                  <a:close/>
                </a:path>
              </a:pathLst>
            </a:custGeom>
            <a:solidFill>
              <a:srgbClr val="A9B388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1938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83346" y="1787570"/>
            <a:ext cx="1776739" cy="1776739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7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489675" y="1842378"/>
            <a:ext cx="1027541" cy="911710"/>
          </a:xfrm>
          <a:custGeom>
            <a:avLst/>
            <a:gdLst/>
            <a:ahLst/>
            <a:cxnLst/>
            <a:rect l="l" t="t" r="r" b="b"/>
            <a:pathLst>
              <a:path w="1027541" h="911710">
                <a:moveTo>
                  <a:pt x="0" y="0"/>
                </a:moveTo>
                <a:lnTo>
                  <a:pt x="1027542" y="0"/>
                </a:lnTo>
                <a:lnTo>
                  <a:pt x="1027542" y="911710"/>
                </a:lnTo>
                <a:lnTo>
                  <a:pt x="0" y="911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23206" y="2164007"/>
            <a:ext cx="1621240" cy="1825272"/>
          </a:xfrm>
          <a:custGeom>
            <a:avLst/>
            <a:gdLst/>
            <a:ahLst/>
            <a:cxnLst/>
            <a:rect l="l" t="t" r="r" b="b"/>
            <a:pathLst>
              <a:path w="2015863" h="1825272">
                <a:moveTo>
                  <a:pt x="0" y="0"/>
                </a:moveTo>
                <a:lnTo>
                  <a:pt x="2015863" y="0"/>
                </a:lnTo>
                <a:lnTo>
                  <a:pt x="2015863" y="1825272"/>
                </a:lnTo>
                <a:lnTo>
                  <a:pt x="0" y="1825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6894740" y="7433028"/>
            <a:ext cx="1393259" cy="1825272"/>
          </a:xfrm>
          <a:custGeom>
            <a:avLst/>
            <a:gdLst/>
            <a:ahLst/>
            <a:cxnLst/>
            <a:rect l="l" t="t" r="r" b="b"/>
            <a:pathLst>
              <a:path w="2015863" h="1825272">
                <a:moveTo>
                  <a:pt x="2015863" y="0"/>
                </a:moveTo>
                <a:lnTo>
                  <a:pt x="0" y="0"/>
                </a:lnTo>
                <a:lnTo>
                  <a:pt x="0" y="1825272"/>
                </a:lnTo>
                <a:lnTo>
                  <a:pt x="2015863" y="1825272"/>
                </a:lnTo>
                <a:lnTo>
                  <a:pt x="201586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694578" y="286143"/>
            <a:ext cx="10898844" cy="16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030"/>
              </a:lnSpc>
              <a:spcBef>
                <a:spcPct val="0"/>
              </a:spcBef>
            </a:pPr>
            <a:r>
              <a:rPr lang="en-US" sz="10021" dirty="0">
                <a:solidFill>
                  <a:srgbClr val="536925"/>
                </a:solidFill>
                <a:latin typeface="Squada One"/>
                <a:ea typeface="Squada One"/>
                <a:cs typeface="Squada One"/>
                <a:sym typeface="Squada One"/>
              </a:rPr>
              <a:t>PROJECT 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49465" y="9234081"/>
            <a:ext cx="3135912" cy="44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7"/>
              </a:lnSpc>
              <a:spcBef>
                <a:spcPct val="0"/>
              </a:spcBef>
            </a:pPr>
            <a:r>
              <a:rPr lang="en-US" sz="2641" i="1" dirty="0">
                <a:solidFill>
                  <a:srgbClr val="0F403C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GLOBAL Company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43569" y="9666125"/>
            <a:ext cx="5200862" cy="422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63"/>
              </a:lnSpc>
              <a:spcBef>
                <a:spcPct val="0"/>
              </a:spcBef>
            </a:pPr>
            <a:r>
              <a:rPr lang="en-US" sz="2474" dirty="0">
                <a:solidFill>
                  <a:srgbClr val="3F7E44"/>
                </a:solidFill>
                <a:latin typeface="Be Vietnam"/>
                <a:ea typeface="Be Vietnam"/>
                <a:cs typeface="Be Vietnam"/>
                <a:sym typeface="Be Vietnam"/>
              </a:rPr>
              <a:t>An Analysis of Career Trajectories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4060" y="2359467"/>
            <a:ext cx="13564722" cy="3208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97"/>
              </a:lnSpc>
              <a:spcBef>
                <a:spcPct val="0"/>
              </a:spcBef>
            </a:pPr>
            <a:r>
              <a:rPr lang="en-US" sz="3641" b="1" spc="-80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1.DATA CLEANING-</a:t>
            </a:r>
          </a:p>
          <a:p>
            <a:pPr marL="571500" indent="-571500" algn="just">
              <a:lnSpc>
                <a:spcPts val="50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41" b="1" spc="-80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HANDLE MISSING VALUES,</a:t>
            </a:r>
          </a:p>
          <a:p>
            <a:pPr marL="571500" indent="-571500" algn="just">
              <a:lnSpc>
                <a:spcPts val="50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41" b="1" spc="-80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DATA STANDARDIZE,</a:t>
            </a:r>
          </a:p>
          <a:p>
            <a:pPr marL="571500" indent="-571500" algn="just">
              <a:lnSpc>
                <a:spcPts val="50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41" b="1" spc="-80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FOUND INCONSISITENT VALUES,</a:t>
            </a:r>
          </a:p>
          <a:p>
            <a:pPr marL="571500" indent="-571500" algn="just">
              <a:lnSpc>
                <a:spcPts val="509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41" b="1" spc="-80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DETECTED OUTLIERS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2817" y="5586393"/>
            <a:ext cx="8534399" cy="592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97"/>
              </a:lnSpc>
              <a:spcBef>
                <a:spcPct val="0"/>
              </a:spcBef>
            </a:pPr>
            <a:r>
              <a:rPr lang="en-US" sz="3641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2.IMPORTED CLEANED DATA TO SQL: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0825" y="6206439"/>
            <a:ext cx="7849939" cy="61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7"/>
              </a:lnSpc>
              <a:spcBef>
                <a:spcPct val="0"/>
              </a:spcBef>
            </a:pPr>
            <a:r>
              <a:rPr lang="en-US" sz="3641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3.SQL QUERIES ARE DONE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8229" y="6839357"/>
            <a:ext cx="8196262" cy="61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7"/>
              </a:lnSpc>
              <a:spcBef>
                <a:spcPct val="0"/>
              </a:spcBef>
            </a:pPr>
            <a:r>
              <a:rPr lang="en-US" sz="3641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4.TABLE CREATED FOR EACH QUERIES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0825" y="7411586"/>
            <a:ext cx="5518398" cy="61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7"/>
              </a:lnSpc>
              <a:spcBef>
                <a:spcPct val="0"/>
              </a:spcBef>
            </a:pPr>
            <a:r>
              <a:rPr lang="en-US" sz="3641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5.DASHBOARD CREATION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3366" y="7965396"/>
            <a:ext cx="7156549" cy="61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7"/>
              </a:lnSpc>
              <a:spcBef>
                <a:spcPct val="0"/>
              </a:spcBef>
            </a:pPr>
            <a:r>
              <a:rPr lang="en-US" sz="3641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6.QUERY EXPORTED TO  CSV FILE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4935" y="8673983"/>
            <a:ext cx="5094620" cy="612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7"/>
              </a:lnSpc>
              <a:spcBef>
                <a:spcPct val="0"/>
              </a:spcBef>
            </a:pPr>
            <a:r>
              <a:rPr lang="en-US" sz="3641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7.WRITTEN SUMMARY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33449" y="8797118"/>
            <a:ext cx="377759" cy="461182"/>
          </a:xfrm>
          <a:custGeom>
            <a:avLst/>
            <a:gdLst/>
            <a:ahLst/>
            <a:cxnLst/>
            <a:rect l="l" t="t" r="r" b="b"/>
            <a:pathLst>
              <a:path w="377759" h="461182">
                <a:moveTo>
                  <a:pt x="0" y="0"/>
                </a:moveTo>
                <a:lnTo>
                  <a:pt x="377758" y="0"/>
                </a:lnTo>
                <a:lnTo>
                  <a:pt x="377758" y="461182"/>
                </a:lnTo>
                <a:lnTo>
                  <a:pt x="0" y="461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4914461" y="1312765"/>
            <a:ext cx="4686301" cy="2060776"/>
          </a:xfrm>
          <a:custGeom>
            <a:avLst/>
            <a:gdLst/>
            <a:ahLst/>
            <a:cxnLst/>
            <a:rect l="l" t="t" r="r" b="b"/>
            <a:pathLst>
              <a:path w="8091415" h="7326408">
                <a:moveTo>
                  <a:pt x="0" y="0"/>
                </a:moveTo>
                <a:lnTo>
                  <a:pt x="8091415" y="0"/>
                </a:lnTo>
                <a:lnTo>
                  <a:pt x="8091415" y="7326408"/>
                </a:lnTo>
                <a:lnTo>
                  <a:pt x="0" y="73264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725111" y="4187396"/>
            <a:ext cx="6441336" cy="4364277"/>
            <a:chOff x="0" y="0"/>
            <a:chExt cx="1696484" cy="11494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6484" cy="1149439"/>
            </a:xfrm>
            <a:custGeom>
              <a:avLst/>
              <a:gdLst/>
              <a:ahLst/>
              <a:cxnLst/>
              <a:rect l="l" t="t" r="r" b="b"/>
              <a:pathLst>
                <a:path w="1696484" h="1149439">
                  <a:moveTo>
                    <a:pt x="0" y="0"/>
                  </a:moveTo>
                  <a:lnTo>
                    <a:pt x="1696484" y="0"/>
                  </a:lnTo>
                  <a:lnTo>
                    <a:pt x="1696484" y="1149439"/>
                  </a:lnTo>
                  <a:lnTo>
                    <a:pt x="0" y="1149439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96484" cy="118753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99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78502" y="4187396"/>
            <a:ext cx="6441336" cy="4364277"/>
            <a:chOff x="0" y="0"/>
            <a:chExt cx="1696484" cy="11494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6484" cy="1149439"/>
            </a:xfrm>
            <a:custGeom>
              <a:avLst/>
              <a:gdLst/>
              <a:ahLst/>
              <a:cxnLst/>
              <a:rect l="l" t="t" r="r" b="b"/>
              <a:pathLst>
                <a:path w="1696484" h="1149439">
                  <a:moveTo>
                    <a:pt x="0" y="0"/>
                  </a:moveTo>
                  <a:lnTo>
                    <a:pt x="1696484" y="0"/>
                  </a:lnTo>
                  <a:lnTo>
                    <a:pt x="1696484" y="1149439"/>
                  </a:lnTo>
                  <a:lnTo>
                    <a:pt x="0" y="1149439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96484" cy="1187539"/>
            </a:xfrm>
            <a:prstGeom prst="rect">
              <a:avLst/>
            </a:prstGeom>
          </p:spPr>
          <p:txBody>
            <a:bodyPr lIns="254000" tIns="254000" rIns="254000" bIns="254000" rtlCol="0" anchor="ctr"/>
            <a:lstStyle/>
            <a:p>
              <a:pPr algn="ctr">
                <a:lnSpc>
                  <a:spcPts val="299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25111" y="2499517"/>
            <a:ext cx="6441336" cy="1556077"/>
            <a:chOff x="0" y="0"/>
            <a:chExt cx="1696484" cy="4098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96484" cy="409831"/>
            </a:xfrm>
            <a:custGeom>
              <a:avLst/>
              <a:gdLst/>
              <a:ahLst/>
              <a:cxnLst/>
              <a:rect l="l" t="t" r="r" b="b"/>
              <a:pathLst>
                <a:path w="1696484" h="409831">
                  <a:moveTo>
                    <a:pt x="0" y="0"/>
                  </a:moveTo>
                  <a:lnTo>
                    <a:pt x="1696484" y="0"/>
                  </a:lnTo>
                  <a:lnTo>
                    <a:pt x="1696484" y="409831"/>
                  </a:lnTo>
                  <a:lnTo>
                    <a:pt x="0" y="409831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57150"/>
              <a:ext cx="1696484" cy="352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8"/>
                </a:lnSpc>
              </a:pPr>
              <a:r>
                <a:rPr lang="en-US" sz="3841" b="1" i="1">
                  <a:solidFill>
                    <a:srgbClr val="FFFFFF"/>
                  </a:solidFill>
                  <a:latin typeface="Be Vietnam Ultra-Bold Italics"/>
                  <a:ea typeface="Be Vietnam Ultra-Bold Italics"/>
                  <a:cs typeface="Be Vietnam Ultra-Bold Italics"/>
                  <a:sym typeface="Be Vietnam Ultra-Bold Italics"/>
                </a:rPr>
                <a:t>RAW DATA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578502" y="2499517"/>
            <a:ext cx="6441336" cy="1556077"/>
            <a:chOff x="0" y="0"/>
            <a:chExt cx="1696484" cy="4098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96484" cy="409831"/>
            </a:xfrm>
            <a:custGeom>
              <a:avLst/>
              <a:gdLst/>
              <a:ahLst/>
              <a:cxnLst/>
              <a:rect l="l" t="t" r="r" b="b"/>
              <a:pathLst>
                <a:path w="1696484" h="409831">
                  <a:moveTo>
                    <a:pt x="0" y="0"/>
                  </a:moveTo>
                  <a:lnTo>
                    <a:pt x="1696484" y="0"/>
                  </a:lnTo>
                  <a:lnTo>
                    <a:pt x="1696484" y="409831"/>
                  </a:lnTo>
                  <a:lnTo>
                    <a:pt x="0" y="409831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57150"/>
              <a:ext cx="1696484" cy="352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8"/>
                </a:lnSpc>
              </a:pPr>
              <a:r>
                <a:rPr lang="en-US" sz="3841" b="1" i="1">
                  <a:solidFill>
                    <a:srgbClr val="FFFFFF"/>
                  </a:solidFill>
                  <a:latin typeface="Be Vietnam Ultra-Bold Italics"/>
                  <a:ea typeface="Be Vietnam Ultra-Bold Italics"/>
                  <a:cs typeface="Be Vietnam Ultra-Bold Italics"/>
                  <a:sym typeface="Be Vietnam Ultra-Bold Italics"/>
                </a:rPr>
                <a:t>CLEAN DATA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0" y="4224386"/>
            <a:ext cx="8823826" cy="5409223"/>
          </a:xfrm>
          <a:custGeom>
            <a:avLst/>
            <a:gdLst/>
            <a:ahLst/>
            <a:cxnLst/>
            <a:rect l="l" t="t" r="r" b="b"/>
            <a:pathLst>
              <a:path w="8823826" h="5409223">
                <a:moveTo>
                  <a:pt x="0" y="0"/>
                </a:moveTo>
                <a:lnTo>
                  <a:pt x="8823826" y="0"/>
                </a:lnTo>
                <a:lnTo>
                  <a:pt x="8823826" y="5409223"/>
                </a:lnTo>
                <a:lnTo>
                  <a:pt x="0" y="54092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8982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823826" y="4224386"/>
            <a:ext cx="9408346" cy="5403354"/>
          </a:xfrm>
          <a:custGeom>
            <a:avLst/>
            <a:gdLst/>
            <a:ahLst/>
            <a:cxnLst/>
            <a:rect l="l" t="t" r="r" b="b"/>
            <a:pathLst>
              <a:path w="9408346" h="5403354">
                <a:moveTo>
                  <a:pt x="0" y="0"/>
                </a:moveTo>
                <a:lnTo>
                  <a:pt x="9408347" y="0"/>
                </a:lnTo>
                <a:lnTo>
                  <a:pt x="9408347" y="5403354"/>
                </a:lnTo>
                <a:lnTo>
                  <a:pt x="0" y="54033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00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725111" y="489953"/>
            <a:ext cx="13781330" cy="160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190"/>
              </a:lnSpc>
              <a:spcBef>
                <a:spcPct val="0"/>
              </a:spcBef>
            </a:pPr>
            <a:r>
              <a:rPr lang="en-US" sz="9421">
                <a:solidFill>
                  <a:srgbClr val="536925"/>
                </a:solidFill>
                <a:latin typeface="Squada One"/>
                <a:ea typeface="Squada One"/>
                <a:cs typeface="Squada One"/>
                <a:sym typeface="Squada One"/>
              </a:rPr>
              <a:t>DATA CLEANING AND PROCESSING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11207" y="9719334"/>
            <a:ext cx="3135912" cy="44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97"/>
              </a:lnSpc>
              <a:spcBef>
                <a:spcPct val="0"/>
              </a:spcBef>
            </a:pPr>
            <a:r>
              <a:rPr lang="en-US" sz="2641" i="1">
                <a:solidFill>
                  <a:srgbClr val="0F403C"/>
                </a:solidFill>
                <a:latin typeface="Be Vietnam Italics"/>
                <a:ea typeface="Be Vietnam Italics"/>
                <a:cs typeface="Be Vietnam Italics"/>
                <a:sym typeface="Be Vietnam Italics"/>
              </a:rPr>
              <a:t>GLOBAL Company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143670"/>
            <a:chOff x="0" y="0"/>
            <a:chExt cx="4816593" cy="5645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64588"/>
            </a:xfrm>
            <a:custGeom>
              <a:avLst/>
              <a:gdLst/>
              <a:ahLst/>
              <a:cxnLst/>
              <a:rect l="l" t="t" r="r" b="b"/>
              <a:pathLst>
                <a:path w="4816592" h="564588">
                  <a:moveTo>
                    <a:pt x="0" y="0"/>
                  </a:moveTo>
                  <a:lnTo>
                    <a:pt x="4816592" y="0"/>
                  </a:lnTo>
                  <a:lnTo>
                    <a:pt x="4816592" y="564588"/>
                  </a:lnTo>
                  <a:lnTo>
                    <a:pt x="0" y="564588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816593" cy="6122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7"/>
                </a:lnSpc>
              </a:pPr>
              <a:endParaRPr/>
            </a:p>
          </p:txBody>
        </p:sp>
      </p:grp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92535" y="2143670"/>
          <a:ext cx="16266766" cy="6790525"/>
        </p:xfrm>
        <a:graphic>
          <a:graphicData uri="http://schemas.openxmlformats.org/drawingml/2006/table">
            <a:tbl>
              <a:tblPr/>
              <a:tblGrid>
                <a:gridCol w="4057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4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7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90570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Activity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C2"/>
                    </a:solidFill>
                  </a:tcPr>
                </a:tc>
                <a:tc>
                  <a:txBody>
                    <a:bodyPr/>
                    <a:lstStyle/>
                    <a:p>
                      <a:pPr marL="518157" lvl="1" indent="-259078" algn="just">
                        <a:lnSpc>
                          <a:spcPts val="335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3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Software Engineer</a:t>
                      </a:r>
                      <a:endParaRPr lang="en-US" sz="1100"/>
                    </a:p>
                    <a:p>
                      <a:pPr algn="just">
                        <a:lnSpc>
                          <a:spcPts val="3359"/>
                        </a:lnSpc>
                      </a:pPr>
                      <a:r>
                        <a:rPr lang="en-US" sz="23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40712015</a:t>
                      </a:r>
                    </a:p>
                    <a:p>
                      <a:pPr marL="518157" lvl="1" indent="-259078" algn="just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Senior Software Engineer</a:t>
                      </a:r>
                    </a:p>
                    <a:p>
                      <a:pPr algn="just">
                        <a:lnSpc>
                          <a:spcPts val="3359"/>
                        </a:lnSpc>
                      </a:pPr>
                      <a:r>
                        <a:rPr lang="en-US" sz="23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27928411</a:t>
                      </a:r>
                    </a:p>
                    <a:p>
                      <a:pPr marL="518157" lvl="1" indent="-259078" algn="just">
                        <a:lnSpc>
                          <a:spcPts val="3359"/>
                        </a:lnSpc>
                        <a:buFont typeface="Arial"/>
                        <a:buChar char="•"/>
                      </a:pPr>
                      <a:r>
                        <a:rPr lang="en-US" sz="23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Director</a:t>
                      </a:r>
                    </a:p>
                    <a:p>
                      <a:pPr algn="just">
                        <a:lnSpc>
                          <a:spcPts val="3359"/>
                        </a:lnSpc>
                      </a:pPr>
                      <a:r>
                        <a:rPr lang="en-US" sz="23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23411228</a:t>
                      </a:r>
                    </a:p>
                    <a:p>
                      <a:pPr algn="just">
                        <a:lnSpc>
                          <a:spcPts val="2939"/>
                        </a:lnSpc>
                      </a:pPr>
                      <a:endParaRPr lang="en-US" sz="2399" b="1">
                        <a:solidFill>
                          <a:srgbClr val="536925"/>
                        </a:solidFill>
                        <a:latin typeface="Be Vietnam Ultra-Bold"/>
                        <a:ea typeface="Be Vietnam Ultra-Bold"/>
                        <a:cs typeface="Be Vietnam Ultra-Bold"/>
                        <a:sym typeface="Be Vietnam Ultra-Bold"/>
                      </a:endParaRP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61336" lvl="1" indent="-280668" algn="just">
                        <a:lnSpc>
                          <a:spcPts val="363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5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Master's degree </a:t>
                      </a:r>
                      <a:endParaRPr lang="en-US" sz="1100"/>
                    </a:p>
                    <a:p>
                      <a:pPr algn="just">
                        <a:lnSpc>
                          <a:spcPts val="3639"/>
                        </a:lnSpc>
                      </a:pPr>
                      <a:r>
                        <a:rPr lang="en-US" sz="25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96620.85 0 </a:t>
                      </a:r>
                    </a:p>
                    <a:p>
                      <a:pPr algn="just">
                        <a:lnSpc>
                          <a:spcPts val="3639"/>
                        </a:lnSpc>
                      </a:pPr>
                      <a:r>
                        <a:rPr lang="en-US" sz="25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5000044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39746" lvl="1" indent="-269873" algn="l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USA</a:t>
                      </a:r>
                      <a:endParaRPr lang="en-US" sz="1100"/>
                    </a:p>
                    <a:p>
                      <a:pPr algn="l">
                        <a:lnSpc>
                          <a:spcPts val="3499"/>
                        </a:lnSpc>
                      </a:pPr>
                      <a:r>
                        <a:rPr lang="en-US" sz="24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Inside sales manager</a:t>
                      </a:r>
                    </a:p>
                    <a:p>
                      <a:pPr algn="l">
                        <a:lnSpc>
                          <a:spcPts val="3499"/>
                        </a:lnSpc>
                      </a:pPr>
                      <a:r>
                        <a:rPr lang="en-US" sz="24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5000044</a:t>
                      </a:r>
                    </a:p>
                    <a:p>
                      <a:pPr algn="l">
                        <a:lnSpc>
                          <a:spcPts val="3499"/>
                        </a:lnSpc>
                      </a:pPr>
                      <a:endParaRPr lang="en-US" sz="2499" b="1">
                        <a:solidFill>
                          <a:srgbClr val="536925"/>
                        </a:solidFill>
                        <a:latin typeface="Be Vietnam Ultra-Bold"/>
                        <a:ea typeface="Be Vietnam Ultra-Bold"/>
                        <a:cs typeface="Be Vietnam Ultra-Bold"/>
                        <a:sym typeface="Be Vietnam Ultra-Bold"/>
                      </a:endParaRP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9955"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 b="1">
                          <a:solidFill>
                            <a:srgbClr val="000000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Outcome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4C2"/>
                    </a:solidFill>
                  </a:tcPr>
                </a:tc>
                <a:tc>
                  <a:txBody>
                    <a:bodyPr/>
                    <a:lstStyle/>
                    <a:p>
                      <a:pPr marL="474978" lvl="1" indent="-237489" algn="just">
                        <a:lnSpc>
                          <a:spcPts val="30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99" b="1">
                          <a:solidFill>
                            <a:srgbClr val="536925"/>
                          </a:solidFill>
                          <a:latin typeface="Be Vietnam Ultra-Bold"/>
                          <a:ea typeface="Be Vietnam Ultra-Bold"/>
                          <a:cs typeface="Be Vietnam Ultra-Bold"/>
                          <a:sym typeface="Be Vietnam Ultra-Bold"/>
                        </a:rPr>
                        <a:t>Chicago-Accounting, Banking &amp; Finance-130000.00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82922" lvl="1" indent="-291461" algn="just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 b="1">
                          <a:solidFill>
                            <a:srgbClr val="53692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Director	</a:t>
                      </a:r>
                      <a:endParaRPr lang="en-US" sz="1100"/>
                    </a:p>
                    <a:p>
                      <a:pPr algn="just">
                        <a:lnSpc>
                          <a:spcPts val="3779"/>
                        </a:lnSpc>
                      </a:pPr>
                      <a:r>
                        <a:rPr lang="en-US" sz="2699" b="1">
                          <a:solidFill>
                            <a:srgbClr val="53692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11 - 20 years	</a:t>
                      </a:r>
                    </a:p>
                    <a:p>
                      <a:pPr algn="just">
                        <a:lnSpc>
                          <a:spcPts val="3779"/>
                        </a:lnSpc>
                      </a:pPr>
                      <a:r>
                        <a:rPr lang="en-US" sz="2699" b="1">
                          <a:solidFill>
                            <a:srgbClr val="53692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12451466</a:t>
                      </a:r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82922" lvl="1" indent="-291461" algn="just">
                        <a:lnSpc>
                          <a:spcPts val="37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699" b="1" spc="-272">
                          <a:solidFill>
                            <a:srgbClr val="536925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Man Receives highest salary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3692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0" y="19050"/>
            <a:ext cx="18288000" cy="168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750"/>
              </a:lnSpc>
              <a:spcBef>
                <a:spcPct val="0"/>
              </a:spcBef>
            </a:pPr>
            <a:r>
              <a:rPr lang="en-US" sz="9821">
                <a:solidFill>
                  <a:srgbClr val="536925"/>
                </a:solidFill>
                <a:latin typeface="Squada One"/>
                <a:ea typeface="Squada One"/>
                <a:cs typeface="Squada One"/>
                <a:sym typeface="Squada One"/>
              </a:rPr>
              <a:t>HIGHEST SALARY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0" y="2131512"/>
            <a:ext cx="18288000" cy="8155488"/>
          </a:xfrm>
          <a:custGeom>
            <a:avLst/>
            <a:gdLst/>
            <a:ahLst/>
            <a:cxnLst/>
            <a:rect l="l" t="t" r="r" b="b"/>
            <a:pathLst>
              <a:path w="18288000" h="5843206">
                <a:moveTo>
                  <a:pt x="0" y="0"/>
                </a:moveTo>
                <a:lnTo>
                  <a:pt x="18288000" y="0"/>
                </a:lnTo>
                <a:lnTo>
                  <a:pt x="18288000" y="5843206"/>
                </a:lnTo>
                <a:lnTo>
                  <a:pt x="0" y="5843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5" t="-58202" r="-2216" b="-25682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8568" y="470903"/>
            <a:ext cx="16850732" cy="1660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70"/>
              </a:lnSpc>
              <a:spcBef>
                <a:spcPct val="0"/>
              </a:spcBef>
            </a:pPr>
            <a:r>
              <a:rPr lang="en-US" sz="9621">
                <a:solidFill>
                  <a:srgbClr val="536925"/>
                </a:solidFill>
                <a:latin typeface="Squada One"/>
                <a:ea typeface="Squada One"/>
                <a:cs typeface="Squada One"/>
                <a:sym typeface="Squada One"/>
              </a:rPr>
              <a:t>SALARY SURVAY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33449" y="8797118"/>
            <a:ext cx="377759" cy="461182"/>
          </a:xfrm>
          <a:custGeom>
            <a:avLst/>
            <a:gdLst/>
            <a:ahLst/>
            <a:cxnLst/>
            <a:rect l="l" t="t" r="r" b="b"/>
            <a:pathLst>
              <a:path w="377759" h="461182">
                <a:moveTo>
                  <a:pt x="0" y="0"/>
                </a:moveTo>
                <a:lnTo>
                  <a:pt x="377758" y="0"/>
                </a:lnTo>
                <a:lnTo>
                  <a:pt x="377758" y="461182"/>
                </a:lnTo>
                <a:lnTo>
                  <a:pt x="0" y="461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" y="2612084"/>
            <a:ext cx="11712116" cy="7674916"/>
          </a:xfrm>
          <a:custGeom>
            <a:avLst/>
            <a:gdLst/>
            <a:ahLst/>
            <a:cxnLst/>
            <a:rect l="l" t="t" r="r" b="b"/>
            <a:pathLst>
              <a:path w="10337093" h="6833871">
                <a:moveTo>
                  <a:pt x="0" y="0"/>
                </a:moveTo>
                <a:lnTo>
                  <a:pt x="10337093" y="0"/>
                </a:lnTo>
                <a:lnTo>
                  <a:pt x="10337093" y="6833871"/>
                </a:lnTo>
                <a:lnTo>
                  <a:pt x="0" y="6833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480428"/>
            <a:ext cx="16534251" cy="159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910"/>
              </a:lnSpc>
              <a:spcBef>
                <a:spcPct val="0"/>
              </a:spcBef>
            </a:pPr>
            <a:r>
              <a:rPr lang="en-US" sz="9221" b="1">
                <a:solidFill>
                  <a:srgbClr val="536925"/>
                </a:solidFill>
                <a:latin typeface="Inter Bold"/>
                <a:ea typeface="Inter Bold"/>
                <a:cs typeface="Inter Bold"/>
                <a:sym typeface="Inter Bold"/>
              </a:rPr>
              <a:t>SALARY BY COUNTRY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022893" y="3048865"/>
            <a:ext cx="6265106" cy="6209435"/>
            <a:chOff x="0" y="0"/>
            <a:chExt cx="1540682" cy="15139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40682" cy="1513943"/>
            </a:xfrm>
            <a:custGeom>
              <a:avLst/>
              <a:gdLst/>
              <a:ahLst/>
              <a:cxnLst/>
              <a:rect l="l" t="t" r="r" b="b"/>
              <a:pathLst>
                <a:path w="1540682" h="1513943">
                  <a:moveTo>
                    <a:pt x="0" y="0"/>
                  </a:moveTo>
                  <a:lnTo>
                    <a:pt x="1540682" y="0"/>
                  </a:lnTo>
                  <a:lnTo>
                    <a:pt x="1540682" y="1513943"/>
                  </a:lnTo>
                  <a:lnTo>
                    <a:pt x="0" y="1513943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540682" cy="1561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7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344399" y="3619498"/>
            <a:ext cx="5486401" cy="43404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91850" lvl="1" indent="-295925" algn="l">
              <a:lnSpc>
                <a:spcPts val="3837"/>
              </a:lnSpc>
              <a:buFont typeface="Arial"/>
              <a:buChar char="•"/>
            </a:pPr>
            <a:r>
              <a:rPr lang="en-US" sz="2741" b="1" i="1" dirty="0">
                <a:solidFill>
                  <a:srgbClr val="000000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This graph shows the average annual salary in various countries. </a:t>
            </a:r>
          </a:p>
          <a:p>
            <a:pPr algn="l">
              <a:lnSpc>
                <a:spcPts val="3837"/>
              </a:lnSpc>
              <a:spcBef>
                <a:spcPct val="0"/>
              </a:spcBef>
            </a:pPr>
            <a:endParaRPr lang="en-US" sz="2741" b="1" i="1" dirty="0">
              <a:solidFill>
                <a:srgbClr val="000000"/>
              </a:solidFill>
              <a:latin typeface="Be Vietnam Ultra-Bold Italics"/>
              <a:ea typeface="Be Vietnam Ultra-Bold Italics"/>
              <a:cs typeface="Be Vietnam Ultra-Bold Italics"/>
              <a:sym typeface="Be Vietnam Ultra-Bold Italics"/>
            </a:endParaRPr>
          </a:p>
          <a:p>
            <a:pPr marL="591850" lvl="1" indent="-295925" algn="l">
              <a:lnSpc>
                <a:spcPts val="3837"/>
              </a:lnSpc>
              <a:buFont typeface="Arial"/>
              <a:buChar char="•"/>
            </a:pPr>
            <a:r>
              <a:rPr lang="en-US" sz="2741" b="1" i="1" dirty="0">
                <a:solidFill>
                  <a:srgbClr val="000000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It helps compare pay levels across the globe and highlights where the highest and lowest salaries are found.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6781800" y="2050588"/>
            <a:ext cx="11365285" cy="8098976"/>
          </a:xfrm>
          <a:custGeom>
            <a:avLst/>
            <a:gdLst/>
            <a:ahLst/>
            <a:cxnLst/>
            <a:rect l="l" t="t" r="r" b="b"/>
            <a:pathLst>
              <a:path w="12299473" h="6041177">
                <a:moveTo>
                  <a:pt x="0" y="0"/>
                </a:moveTo>
                <a:lnTo>
                  <a:pt x="12299473" y="0"/>
                </a:lnTo>
                <a:lnTo>
                  <a:pt x="12299473" y="6041176"/>
                </a:lnTo>
                <a:lnTo>
                  <a:pt x="0" y="6041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9" r="-108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137436"/>
            <a:ext cx="15282890" cy="160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50"/>
              </a:lnSpc>
              <a:spcBef>
                <a:spcPct val="0"/>
              </a:spcBef>
            </a:pPr>
            <a:r>
              <a:rPr lang="en-US" sz="9321" b="1">
                <a:solidFill>
                  <a:srgbClr val="536925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GENDERWISE SALARY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60602" y="2050588"/>
            <a:ext cx="6521198" cy="8098976"/>
            <a:chOff x="0" y="0"/>
            <a:chExt cx="1416693" cy="17227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16693" cy="1722734"/>
            </a:xfrm>
            <a:custGeom>
              <a:avLst/>
              <a:gdLst/>
              <a:ahLst/>
              <a:cxnLst/>
              <a:rect l="l" t="t" r="r" b="b"/>
              <a:pathLst>
                <a:path w="1416693" h="1722734">
                  <a:moveTo>
                    <a:pt x="0" y="0"/>
                  </a:moveTo>
                  <a:lnTo>
                    <a:pt x="1416693" y="0"/>
                  </a:lnTo>
                  <a:lnTo>
                    <a:pt x="1416693" y="1722734"/>
                  </a:lnTo>
                  <a:lnTo>
                    <a:pt x="0" y="1722734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416693" cy="17703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0915" y="3275585"/>
            <a:ext cx="6145045" cy="5648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0261" lvl="1" indent="-285130" algn="just">
              <a:lnSpc>
                <a:spcPts val="3697"/>
              </a:lnSpc>
              <a:buFont typeface="Arial"/>
              <a:buChar char="•"/>
            </a:pPr>
            <a:r>
              <a:rPr lang="en-US" sz="2641" b="1" i="1" spc="-163" dirty="0">
                <a:solidFill>
                  <a:srgbClr val="000000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This chart compares the average yearly salary of male and female employees.</a:t>
            </a:r>
          </a:p>
          <a:p>
            <a:pPr algn="just">
              <a:lnSpc>
                <a:spcPts val="3697"/>
              </a:lnSpc>
            </a:pPr>
            <a:endParaRPr lang="en-US" sz="2641" b="1" i="1" spc="-163" dirty="0">
              <a:solidFill>
                <a:srgbClr val="000000"/>
              </a:solidFill>
              <a:latin typeface="Be Vietnam Ultra-Bold Italics"/>
              <a:ea typeface="Be Vietnam Ultra-Bold Italics"/>
              <a:cs typeface="Be Vietnam Ultra-Bold Italics"/>
              <a:sym typeface="Be Vietnam Ultra-Bold Italics"/>
            </a:endParaRPr>
          </a:p>
          <a:p>
            <a:pPr marL="570261" lvl="1" indent="-285130" algn="just">
              <a:lnSpc>
                <a:spcPts val="3697"/>
              </a:lnSpc>
              <a:buFont typeface="Arial"/>
              <a:buChar char="•"/>
            </a:pPr>
            <a:r>
              <a:rPr lang="en-US" sz="2641" b="1" i="1" spc="-163" dirty="0">
                <a:solidFill>
                  <a:srgbClr val="000000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 It helps us see if there is any pay gap between genders.</a:t>
            </a:r>
          </a:p>
          <a:p>
            <a:pPr algn="just">
              <a:lnSpc>
                <a:spcPts val="3697"/>
              </a:lnSpc>
            </a:pPr>
            <a:endParaRPr lang="en-US" sz="2641" b="1" i="1" spc="-163" dirty="0">
              <a:solidFill>
                <a:srgbClr val="000000"/>
              </a:solidFill>
              <a:latin typeface="Be Vietnam Ultra-Bold Italics"/>
              <a:ea typeface="Be Vietnam Ultra-Bold Italics"/>
              <a:cs typeface="Be Vietnam Ultra-Bold Italics"/>
              <a:sym typeface="Be Vietnam Ultra-Bold Italics"/>
            </a:endParaRPr>
          </a:p>
          <a:p>
            <a:pPr marL="570261" lvl="1" indent="-285130" algn="just">
              <a:lnSpc>
                <a:spcPts val="3697"/>
              </a:lnSpc>
              <a:buFont typeface="Arial"/>
              <a:buChar char="•"/>
            </a:pPr>
            <a:r>
              <a:rPr lang="en-US" sz="2641" b="1" i="1" spc="-163" dirty="0">
                <a:solidFill>
                  <a:srgbClr val="000000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 We can easily understand who earns more on average.</a:t>
            </a:r>
          </a:p>
          <a:p>
            <a:pPr algn="just">
              <a:lnSpc>
                <a:spcPts val="3697"/>
              </a:lnSpc>
            </a:pPr>
            <a:endParaRPr lang="en-US" sz="2641" b="1" i="1" spc="-163" dirty="0">
              <a:solidFill>
                <a:srgbClr val="000000"/>
              </a:solidFill>
              <a:latin typeface="Be Vietnam Ultra-Bold Italics"/>
              <a:ea typeface="Be Vietnam Ultra-Bold Italics"/>
              <a:cs typeface="Be Vietnam Ultra-Bold Italics"/>
              <a:sym typeface="Be Vietnam Ultra-Bold Italics"/>
            </a:endParaRPr>
          </a:p>
          <a:p>
            <a:pPr marL="570261" lvl="1" indent="-285130" algn="just">
              <a:lnSpc>
                <a:spcPts val="3697"/>
              </a:lnSpc>
              <a:buFont typeface="Arial"/>
              <a:buChar char="•"/>
            </a:pPr>
            <a:r>
              <a:rPr lang="en-US" sz="2641" b="1" i="1" spc="-163" dirty="0">
                <a:solidFill>
                  <a:srgbClr val="000000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 It highlights the need for equal pay and fairness in the workplace.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33449" y="8797118"/>
            <a:ext cx="377759" cy="461182"/>
          </a:xfrm>
          <a:custGeom>
            <a:avLst/>
            <a:gdLst/>
            <a:ahLst/>
            <a:cxnLst/>
            <a:rect l="l" t="t" r="r" b="b"/>
            <a:pathLst>
              <a:path w="377759" h="461182">
                <a:moveTo>
                  <a:pt x="0" y="0"/>
                </a:moveTo>
                <a:lnTo>
                  <a:pt x="377758" y="0"/>
                </a:lnTo>
                <a:lnTo>
                  <a:pt x="377758" y="461182"/>
                </a:lnTo>
                <a:lnTo>
                  <a:pt x="0" y="461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088155"/>
            <a:ext cx="18288000" cy="8198845"/>
            <a:chOff x="0" y="0"/>
            <a:chExt cx="4816593" cy="21593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159367"/>
            </a:xfrm>
            <a:custGeom>
              <a:avLst/>
              <a:gdLst/>
              <a:ahLst/>
              <a:cxnLst/>
              <a:rect l="l" t="t" r="r" b="b"/>
              <a:pathLst>
                <a:path w="4816592" h="2159367">
                  <a:moveTo>
                    <a:pt x="0" y="0"/>
                  </a:moveTo>
                  <a:lnTo>
                    <a:pt x="4816592" y="0"/>
                  </a:lnTo>
                  <a:lnTo>
                    <a:pt x="4816592" y="2159367"/>
                  </a:lnTo>
                  <a:lnTo>
                    <a:pt x="0" y="2159367"/>
                  </a:lnTo>
                  <a:close/>
                </a:path>
              </a:pathLst>
            </a:custGeom>
            <a:solidFill>
              <a:srgbClr val="A9B38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2069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97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3857" y="133980"/>
            <a:ext cx="17540285" cy="1608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194"/>
              </a:lnSpc>
              <a:spcBef>
                <a:spcPct val="0"/>
              </a:spcBef>
            </a:pPr>
            <a:r>
              <a:rPr lang="en-US" sz="9424">
                <a:solidFill>
                  <a:srgbClr val="536925"/>
                </a:solidFill>
                <a:latin typeface="Squada One"/>
                <a:ea typeface="Squada One"/>
                <a:cs typeface="Squada One"/>
                <a:sym typeface="Squada One"/>
              </a:rPr>
              <a:t>Conclusion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2088155"/>
            <a:ext cx="7711207" cy="8198845"/>
          </a:xfrm>
          <a:custGeom>
            <a:avLst/>
            <a:gdLst/>
            <a:ahLst/>
            <a:cxnLst/>
            <a:rect l="l" t="t" r="r" b="b"/>
            <a:pathLst>
              <a:path w="7711207" h="8198845">
                <a:moveTo>
                  <a:pt x="0" y="0"/>
                </a:moveTo>
                <a:lnTo>
                  <a:pt x="7711207" y="0"/>
                </a:lnTo>
                <a:lnTo>
                  <a:pt x="7711207" y="8198845"/>
                </a:lnTo>
                <a:lnTo>
                  <a:pt x="0" y="8198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491" r="-4405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711207" y="2076563"/>
            <a:ext cx="9548093" cy="7848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2791" lvl="1" indent="-341396" algn="just">
              <a:lnSpc>
                <a:spcPts val="4427"/>
              </a:lnSpc>
              <a:buFont typeface="Arial"/>
              <a:buChar char="•"/>
            </a:pPr>
            <a:r>
              <a:rPr lang="en-US" sz="3162" b="1" i="1">
                <a:solidFill>
                  <a:srgbClr val="000000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This salary survey project has provided meaningful insights into compensation patterns across various industries, job titles, education levels, and demographics. </a:t>
            </a:r>
          </a:p>
          <a:p>
            <a:pPr algn="just">
              <a:lnSpc>
                <a:spcPts val="4427"/>
              </a:lnSpc>
            </a:pPr>
            <a:endParaRPr lang="en-US" sz="3162" b="1" i="1">
              <a:solidFill>
                <a:srgbClr val="000000"/>
              </a:solidFill>
              <a:latin typeface="Be Vietnam Ultra-Bold Italics"/>
              <a:ea typeface="Be Vietnam Ultra-Bold Italics"/>
              <a:cs typeface="Be Vietnam Ultra-Bold Italics"/>
              <a:sym typeface="Be Vietnam Ultra-Bold Italics"/>
            </a:endParaRPr>
          </a:p>
          <a:p>
            <a:pPr marL="682791" lvl="1" indent="-341396" algn="just">
              <a:lnSpc>
                <a:spcPts val="4427"/>
              </a:lnSpc>
              <a:buFont typeface="Arial"/>
              <a:buChar char="•"/>
            </a:pPr>
            <a:r>
              <a:rPr lang="en-US" sz="3162" b="1" i="1">
                <a:solidFill>
                  <a:srgbClr val="000000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The analysis highlighted disparities such as the gender pay gap and variations in salaries based on experience, education, and geographic location. </a:t>
            </a:r>
          </a:p>
          <a:p>
            <a:pPr algn="just">
              <a:lnSpc>
                <a:spcPts val="4427"/>
              </a:lnSpc>
            </a:pPr>
            <a:endParaRPr lang="en-US" sz="3162" b="1" i="1">
              <a:solidFill>
                <a:srgbClr val="000000"/>
              </a:solidFill>
              <a:latin typeface="Be Vietnam Ultra-Bold Italics"/>
              <a:ea typeface="Be Vietnam Ultra-Bold Italics"/>
              <a:cs typeface="Be Vietnam Ultra-Bold Italics"/>
              <a:sym typeface="Be Vietnam Ultra-Bold Italics"/>
            </a:endParaRPr>
          </a:p>
          <a:p>
            <a:pPr marL="682791" lvl="1" indent="-341396" algn="just">
              <a:lnSpc>
                <a:spcPts val="4427"/>
              </a:lnSpc>
              <a:buFont typeface="Arial"/>
              <a:buChar char="•"/>
            </a:pPr>
            <a:r>
              <a:rPr lang="en-US" sz="3162" b="1" i="1">
                <a:solidFill>
                  <a:srgbClr val="000000"/>
                </a:solidFill>
                <a:latin typeface="Be Vietnam Ultra-Bold Italics"/>
                <a:ea typeface="Be Vietnam Ultra-Bold Italics"/>
                <a:cs typeface="Be Vietnam Ultra-Bold Italics"/>
                <a:sym typeface="Be Vietnam Ultra-Bold Italics"/>
              </a:rPr>
              <a:t>These findings can help organizations build fair, competitive, and data-driven compensation strategies, ensuring better talent retention and equity in the workplace.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5400000">
            <a:off x="36669" y="-36671"/>
            <a:ext cx="7470459" cy="7543801"/>
          </a:xfrm>
          <a:custGeom>
            <a:avLst/>
            <a:gdLst/>
            <a:ahLst/>
            <a:cxnLst/>
            <a:rect l="l" t="t" r="r" b="b"/>
            <a:pathLst>
              <a:path w="8091415" h="7326408">
                <a:moveTo>
                  <a:pt x="0" y="0"/>
                </a:moveTo>
                <a:lnTo>
                  <a:pt x="8091415" y="0"/>
                </a:lnTo>
                <a:lnTo>
                  <a:pt x="8091415" y="7326408"/>
                </a:lnTo>
                <a:lnTo>
                  <a:pt x="0" y="732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55267" y="3267182"/>
            <a:ext cx="12799206" cy="2936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2"/>
              </a:lnSpc>
            </a:pPr>
            <a:r>
              <a:rPr lang="en-US" sz="17137">
                <a:solidFill>
                  <a:srgbClr val="536925"/>
                </a:solidFill>
                <a:latin typeface="Squada One"/>
                <a:ea typeface="Squada One"/>
                <a:cs typeface="Squada One"/>
                <a:sym typeface="Squada One"/>
              </a:rPr>
              <a:t>ANY QUESTIONS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F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5400000">
            <a:off x="-382501" y="382504"/>
            <a:ext cx="8091415" cy="7326408"/>
          </a:xfrm>
          <a:custGeom>
            <a:avLst/>
            <a:gdLst/>
            <a:ahLst/>
            <a:cxnLst/>
            <a:rect l="l" t="t" r="r" b="b"/>
            <a:pathLst>
              <a:path w="8091415" h="7326408">
                <a:moveTo>
                  <a:pt x="0" y="0"/>
                </a:moveTo>
                <a:lnTo>
                  <a:pt x="8091415" y="0"/>
                </a:lnTo>
                <a:lnTo>
                  <a:pt x="8091415" y="7326408"/>
                </a:lnTo>
                <a:lnTo>
                  <a:pt x="0" y="7326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55267" y="3133832"/>
            <a:ext cx="12799206" cy="4080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229"/>
              </a:lnSpc>
            </a:pPr>
            <a:r>
              <a:rPr lang="en-US" sz="23735">
                <a:solidFill>
                  <a:srgbClr val="536925"/>
                </a:solidFill>
                <a:latin typeface="Squada One"/>
                <a:ea typeface="Squada One"/>
                <a:cs typeface="Squada One"/>
                <a:sym typeface="Squada One"/>
              </a:rPr>
              <a:t>THANK YOU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61360" y="6684164"/>
            <a:ext cx="3758164" cy="529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97"/>
              </a:lnSpc>
              <a:spcBef>
                <a:spcPct val="0"/>
              </a:spcBef>
            </a:pPr>
            <a:r>
              <a:rPr lang="en-US" sz="3141" b="1" dirty="0">
                <a:solidFill>
                  <a:srgbClr val="0F403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08-07- 2025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429</Words>
  <Application>Microsoft Office PowerPoint</Application>
  <PresentationFormat>Custom</PresentationFormat>
  <Paragraphs>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Calibri</vt:lpstr>
      <vt:lpstr>Inter Bold</vt:lpstr>
      <vt:lpstr>Arial</vt:lpstr>
      <vt:lpstr>Be Vietnam Italics</vt:lpstr>
      <vt:lpstr>Arimo Bold</vt:lpstr>
      <vt:lpstr>Be Vietnam</vt:lpstr>
      <vt:lpstr>Be Vietnam Ultra-Bold Italics</vt:lpstr>
      <vt:lpstr>Squada One</vt:lpstr>
      <vt:lpstr>Be Vietnam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 SURVEY</dc:title>
  <dc:creator>Admin</dc:creator>
  <cp:lastModifiedBy>Admin</cp:lastModifiedBy>
  <cp:revision>5</cp:revision>
  <dcterms:created xsi:type="dcterms:W3CDTF">2006-08-16T00:00:00Z</dcterms:created>
  <dcterms:modified xsi:type="dcterms:W3CDTF">2025-10-17T17:37:57Z</dcterms:modified>
  <dc:identifier>DAGr89tFSME</dc:identifier>
</cp:coreProperties>
</file>